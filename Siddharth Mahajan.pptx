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17"/>
  </p:notesMasterIdLst>
  <p:sldIdLst>
    <p:sldId id="256" r:id="rId5"/>
    <p:sldId id="2146847054" r:id="rId6"/>
    <p:sldId id="262" r:id="rId7"/>
    <p:sldId id="263" r:id="rId8"/>
    <p:sldId id="265" r:id="rId9"/>
    <p:sldId id="266" r:id="rId10"/>
    <p:sldId id="267" r:id="rId11"/>
    <p:sldId id="268" r:id="rId12"/>
    <p:sldId id="2146847055" r:id="rId13"/>
    <p:sldId id="269" r:id="rId14"/>
    <p:sldId id="2146847058" r:id="rId15"/>
    <p:sldId id="25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466EFC-1F62-CA2C-07B1-96111B302B1B}" v="154" dt="2023-11-22T13:37:01.483"/>
    <p1510:client id="{47C7BCB7-7546-3717-E035-B2126C89CD1A}" v="2" dt="2023-11-22T12:55:27.32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6" d="100"/>
          <a:sy n="66" d="100"/>
        </p:scale>
        <p:origin x="1301" y="37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11-06-2026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6/11/2026</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6/11/2026</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6/11/2026</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6/11/2026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6/11/2026</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6/11/2026</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6/11/2026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6/11/2026</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6/11/2026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6/11/2026</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6/11/2026</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6/11/2026</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a16="http://schemas.microsoft.com/office/drawing/2014/main"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hyperlink" Target="https://www.sqlite.org/docs.html" TargetMode="External"/><Relationship Id="rId3" Type="http://schemas.openxmlformats.org/officeDocument/2006/relationships/hyperlink" Target="https://docs.streamlit.io/" TargetMode="External"/><Relationship Id="rId7" Type="http://schemas.openxmlformats.org/officeDocument/2006/relationships/hyperlink" Target="https://plotly.com/python/" TargetMode="External"/><Relationship Id="rId2" Type="http://schemas.openxmlformats.org/officeDocument/2006/relationships/hyperlink" Target="https://ai.google.dev/" TargetMode="External"/><Relationship Id="rId1" Type="http://schemas.openxmlformats.org/officeDocument/2006/relationships/slideLayout" Target="../slideLayouts/slideLayout2.xml"/><Relationship Id="rId6" Type="http://schemas.openxmlformats.org/officeDocument/2006/relationships/hyperlink" Target="https://numpy.org/doc/" TargetMode="External"/><Relationship Id="rId5" Type="http://schemas.openxmlformats.org/officeDocument/2006/relationships/hyperlink" Target="https://pandas.pydata.org/docs/" TargetMode="External"/><Relationship Id="rId10" Type="http://schemas.openxmlformats.org/officeDocument/2006/relationships/hyperlink" Target="https://github.com/siddharthmahajan2477-dot/CareBridge" TargetMode="External"/><Relationship Id="rId4" Type="http://schemas.openxmlformats.org/officeDocument/2006/relationships/hyperlink" Target="https://scikit-learn.org/stable/" TargetMode="External"/><Relationship Id="rId9" Type="http://schemas.openxmlformats.org/officeDocument/2006/relationships/hyperlink" Target="https://www.kaggle.com/datasets/siddharth564/carebridge-synthetic-healthcare-dataset"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11E26-4C38-41A6-9857-11032CEECD80}"/>
              </a:ext>
            </a:extLst>
          </p:cNvPr>
          <p:cNvSpPr>
            <a:spLocks noGrp="1"/>
          </p:cNvSpPr>
          <p:nvPr>
            <p:ph type="ctrTitle"/>
          </p:nvPr>
        </p:nvSpPr>
        <p:spPr>
          <a:xfrm>
            <a:off x="1359108" y="1821635"/>
            <a:ext cx="9144000" cy="977778"/>
          </a:xfrm>
        </p:spPr>
        <p:txBody>
          <a:bodyPr/>
          <a:lstStyle/>
          <a:p>
            <a:pPr algn="ctr"/>
            <a:r>
              <a:rPr lang="en-US" b="1" dirty="0">
                <a:solidFill>
                  <a:schemeClr val="accent1"/>
                </a:solidFill>
                <a:latin typeface="Arial" panose="020B0604020202020204" pitchFamily="34" charset="0"/>
                <a:cs typeface="Arial" panose="020B0604020202020204" pitchFamily="34" charset="0"/>
              </a:rPr>
              <a:t>Project title</a:t>
            </a: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a:solidFill>
                  <a:schemeClr val="accent1">
                    <a:lumMod val="75000"/>
                  </a:schemeClr>
                </a:solidFill>
                <a:latin typeface="Arial"/>
                <a:cs typeface="Arial"/>
              </a:rPr>
              <a:t>CAPSTONE PROJECT</a:t>
            </a:r>
          </a:p>
        </p:txBody>
      </p:sp>
      <p:sp>
        <p:nvSpPr>
          <p:cNvPr id="4" name="TextBox 3"/>
          <p:cNvSpPr txBox="1"/>
          <p:nvPr/>
        </p:nvSpPr>
        <p:spPr>
          <a:xfrm>
            <a:off x="3202196" y="4058588"/>
            <a:ext cx="7980183" cy="1323439"/>
          </a:xfrm>
          <a:prstGeom prst="rect">
            <a:avLst/>
          </a:prstGeom>
          <a:noFill/>
        </p:spPr>
        <p:txBody>
          <a:bodyPr wrap="square" lIns="91440" tIns="45720" rIns="91440" bIns="45720" rtlCol="0" anchor="t">
            <a:spAutoFit/>
          </a:bodyPr>
          <a:lstStyle/>
          <a:p>
            <a:r>
              <a:rPr lang="en-US" sz="2000" b="1" dirty="0">
                <a:solidFill>
                  <a:schemeClr val="accent1">
                    <a:lumMod val="75000"/>
                  </a:schemeClr>
                </a:solidFill>
                <a:latin typeface="Arial" pitchFamily="34" charset="0"/>
                <a:cs typeface="Arial" pitchFamily="34" charset="0"/>
              </a:rPr>
              <a:t>Presented By:</a:t>
            </a:r>
          </a:p>
          <a:p>
            <a:pPr marL="457200" indent="-457200">
              <a:buAutoNum type="arabicPeriod"/>
            </a:pPr>
            <a:r>
              <a:rPr lang="en-US" sz="2000" b="1" dirty="0">
                <a:solidFill>
                  <a:schemeClr val="accent1">
                    <a:lumMod val="75000"/>
                  </a:schemeClr>
                </a:solidFill>
                <a:latin typeface="Arial"/>
                <a:cs typeface="Arial"/>
              </a:rPr>
              <a:t>Student Name-  SIDDHARTH SANDESH MAHAJAN</a:t>
            </a:r>
          </a:p>
          <a:p>
            <a:pPr marL="457200" indent="-457200">
              <a:buAutoNum type="arabicPeriod"/>
            </a:pPr>
            <a:r>
              <a:rPr lang="en-US" sz="2000" b="1" dirty="0">
                <a:solidFill>
                  <a:schemeClr val="accent1">
                    <a:lumMod val="75000"/>
                  </a:schemeClr>
                </a:solidFill>
                <a:latin typeface="Arial"/>
                <a:cs typeface="Arial"/>
              </a:rPr>
              <a:t>College Name-  SAVITRIBAI PHULE PUNE UNIVERSITY</a:t>
            </a:r>
          </a:p>
          <a:p>
            <a:pPr marL="457200" indent="-457200">
              <a:buAutoNum type="arabicPeriod"/>
            </a:pPr>
            <a:r>
              <a:rPr lang="en-US" sz="2000" b="1" dirty="0">
                <a:solidFill>
                  <a:schemeClr val="accent1">
                    <a:lumMod val="75000"/>
                  </a:schemeClr>
                </a:solidFill>
                <a:latin typeface="Arial"/>
                <a:cs typeface="Arial"/>
              </a:rPr>
              <a:t>Department- DEPARTMENT OF TECHNOLOGY</a:t>
            </a:r>
          </a:p>
        </p:txBody>
      </p:sp>
    </p:spTree>
    <p:extLst>
      <p:ext uri="{BB962C8B-B14F-4D97-AF65-F5344CB8AC3E}">
        <p14:creationId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EB4C-F209-4AE7-AA2B-B3C26CE2C51D}"/>
              </a:ext>
            </a:extLst>
          </p:cNvPr>
          <p:cNvSpPr>
            <a:spLocks noGrp="1"/>
          </p:cNvSpPr>
          <p:nvPr>
            <p:ph type="title"/>
          </p:nvPr>
        </p:nvSpPr>
        <p:spPr>
          <a:xfrm>
            <a:off x="849573" y="558468"/>
            <a:ext cx="10515600" cy="1325563"/>
          </a:xfrm>
        </p:spPr>
        <p:txBody>
          <a:bodyPr/>
          <a:lstStyle/>
          <a:p>
            <a:r>
              <a:rPr lang="en-US" b="1">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a16="http://schemas.microsoft.com/office/drawing/2014/main" id="{B2678641-EEA3-4EC4-BF39-4075B0C120E8}"/>
              </a:ext>
            </a:extLst>
          </p:cNvPr>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lang="en-US" sz="2000" b="1" dirty="0">
                <a:latin typeface="Arial"/>
                <a:ea typeface="+mn-lt"/>
                <a:cs typeface="Arial"/>
              </a:rPr>
              <a:t>  </a:t>
            </a:r>
            <a:endParaRPr lang="en-US" dirty="0">
              <a:latin typeface="Arial"/>
              <a:cs typeface="Arial"/>
            </a:endParaRPr>
          </a:p>
          <a:p>
            <a:r>
              <a:rPr lang="en-US" sz="2000" b="1" dirty="0">
                <a:latin typeface="Arial"/>
                <a:ea typeface="+mn-lt"/>
                <a:cs typeface="Arial"/>
              </a:rPr>
              <a:t>Problem Statement </a:t>
            </a:r>
            <a:r>
              <a:rPr lang="en-US" sz="2000" dirty="0">
                <a:latin typeface="Arial"/>
                <a:ea typeface="+mn-lt"/>
                <a:cs typeface="Arial"/>
              </a:rPr>
              <a:t>(Should not include solution)</a:t>
            </a:r>
            <a:endParaRPr lang="en-US" dirty="0">
              <a:latin typeface="Arial"/>
              <a:cs typeface="Arial"/>
            </a:endParaRPr>
          </a:p>
          <a:p>
            <a:r>
              <a:rPr lang="en-US" sz="2000" b="1" dirty="0">
                <a:latin typeface="Arial"/>
                <a:ea typeface="+mn-lt"/>
                <a:cs typeface="Arial"/>
              </a:rPr>
              <a:t>Proposed System/Solution</a:t>
            </a:r>
            <a:endParaRPr lang="en-US" dirty="0">
              <a:latin typeface="Arial"/>
              <a:cs typeface="Arial"/>
            </a:endParaRPr>
          </a:p>
          <a:p>
            <a:r>
              <a:rPr lang="en-US" sz="2000" b="1" dirty="0">
                <a:latin typeface="Arial"/>
                <a:ea typeface="+mn-lt"/>
                <a:cs typeface="Calibri"/>
              </a:rPr>
              <a:t>System </a:t>
            </a:r>
            <a:r>
              <a:rPr lang="en-US" sz="2000" b="1" dirty="0">
                <a:latin typeface="Arial"/>
                <a:ea typeface="+mn-lt"/>
                <a:cs typeface="+mn-lt"/>
              </a:rPr>
              <a:t>Development Approach </a:t>
            </a:r>
            <a:r>
              <a:rPr lang="en-US" sz="2000" dirty="0">
                <a:latin typeface="Arial"/>
                <a:ea typeface="+mn-lt"/>
                <a:cs typeface="+mn-lt"/>
              </a:rPr>
              <a:t>(Technology Used) </a:t>
            </a:r>
            <a:endParaRPr lang="en-US" dirty="0">
              <a:latin typeface="Arial"/>
              <a:ea typeface="+mn-lt"/>
              <a:cs typeface="+mn-lt"/>
            </a:endParaRPr>
          </a:p>
          <a:p>
            <a:r>
              <a:rPr lang="en-US" sz="2000" b="1" dirty="0">
                <a:latin typeface="Arial"/>
                <a:ea typeface="+mn-lt"/>
                <a:cs typeface="+mn-lt"/>
              </a:rPr>
              <a:t>Algorithm &amp; Deployment  </a:t>
            </a:r>
            <a:endParaRPr lang="en-US" dirty="0">
              <a:latin typeface="Arial"/>
              <a:cs typeface="Calibri"/>
            </a:endParaRPr>
          </a:p>
          <a:p>
            <a:r>
              <a:rPr lang="en-US" sz="2000" b="1" dirty="0">
                <a:latin typeface="Arial"/>
                <a:ea typeface="+mn-lt"/>
                <a:cs typeface="Arial"/>
              </a:rPr>
              <a:t>Result</a:t>
            </a:r>
          </a:p>
          <a:p>
            <a:r>
              <a:rPr lang="en-US" sz="2000" b="1" dirty="0">
                <a:latin typeface="Arial"/>
                <a:ea typeface="+mn-lt"/>
                <a:cs typeface="Arial"/>
              </a:rPr>
              <a:t>Conclusion</a:t>
            </a:r>
            <a:endParaRPr lang="en-US" dirty="0">
              <a:latin typeface="Arial"/>
              <a:cs typeface="Arial"/>
            </a:endParaRPr>
          </a:p>
          <a:p>
            <a:r>
              <a:rPr lang="en-US" sz="2000" b="1" dirty="0">
                <a:latin typeface="Arial"/>
                <a:ea typeface="+mn-lt"/>
                <a:cs typeface="Arial"/>
              </a:rPr>
              <a:t>Future Scope</a:t>
            </a:r>
          </a:p>
          <a:p>
            <a:r>
              <a:rPr lang="en-US" sz="2000" b="1" dirty="0">
                <a:latin typeface="Arial"/>
                <a:ea typeface="+mn-lt"/>
                <a:cs typeface="Arial"/>
              </a:rPr>
              <a:t>References</a:t>
            </a:r>
            <a:endParaRPr lang="en-US" dirty="0">
              <a:latin typeface="Arial"/>
              <a:cs typeface="Arial"/>
            </a:endParaRPr>
          </a:p>
          <a:p>
            <a:endParaRPr lang="en-US" dirty="0">
              <a:latin typeface="Arial"/>
              <a:cs typeface="Arial"/>
            </a:endParaRPr>
          </a:p>
        </p:txBody>
      </p:sp>
    </p:spTree>
    <p:extLst>
      <p:ext uri="{BB962C8B-B14F-4D97-AF65-F5344CB8AC3E}">
        <p14:creationId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Problem Statement</a:t>
            </a:r>
            <a:endParaRPr lang="en-US" sz="4400" dirty="0"/>
          </a:p>
        </p:txBody>
      </p:sp>
      <p:sp>
        <p:nvSpPr>
          <p:cNvPr id="2" name="Content Placeholder 1">
            <a:extLst>
              <a:ext uri="{FF2B5EF4-FFF2-40B4-BE49-F238E27FC236}">
                <a16:creationId xmlns:a16="http://schemas.microsoft.com/office/drawing/2014/main" id="{8FEE4A9C-3F57-7DA7-91FD-715C3FB47F93}"/>
              </a:ext>
            </a:extLst>
          </p:cNvPr>
          <p:cNvSpPr>
            <a:spLocks noGrp="1"/>
          </p:cNvSpPr>
          <p:nvPr>
            <p:ph idx="1"/>
          </p:nvPr>
        </p:nvSpPr>
        <p:spPr>
          <a:xfrm>
            <a:off x="581192" y="1232452"/>
            <a:ext cx="11029615" cy="1762814"/>
          </a:xfrm>
        </p:spPr>
        <p:txBody>
          <a:bodyPr>
            <a:normAutofit/>
          </a:bodyPr>
          <a:lstStyle/>
          <a:p>
            <a:pPr marL="0" indent="0">
              <a:buNone/>
            </a:pPr>
            <a:r>
              <a:rPr lang="en-GB" sz="1800" dirty="0"/>
              <a:t>Healthcare systems often face challenges in efficiently managing healthcare resources such as hospital beds, doctors, staff, and ambulances. The lack of centralized monitoring and predictive planning can lead to resource shortages, delays in patient transfers, inefficient utilization of healthcare infrastructure, and slower decision-making. Additionally, healthcare administrators often rely on manual reporting processes, making it difficult to obtain real-time insights for operational planning.</a:t>
            </a:r>
            <a:endParaRPr lang="en-IN" sz="1800" dirty="0"/>
          </a:p>
        </p:txBody>
      </p:sp>
    </p:spTree>
    <p:extLst>
      <p:ext uri="{BB962C8B-B14F-4D97-AF65-F5344CB8AC3E}">
        <p14:creationId xmlns:p14="http://schemas.microsoft.com/office/powerpoint/2010/main"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Proposed Solution</a:t>
            </a:r>
            <a:endParaRPr lang="en-US" sz="4400" dirty="0"/>
          </a:p>
        </p:txBody>
      </p:sp>
      <p:sp>
        <p:nvSpPr>
          <p:cNvPr id="3" name="Rectangle 1">
            <a:extLst>
              <a:ext uri="{FF2B5EF4-FFF2-40B4-BE49-F238E27FC236}">
                <a16:creationId xmlns:a16="http://schemas.microsoft.com/office/drawing/2014/main" id="{C551FE93-90CF-CC51-FC5E-8135D2D67DDF}"/>
              </a:ext>
            </a:extLst>
          </p:cNvPr>
          <p:cNvSpPr>
            <a:spLocks noGrp="1" noChangeArrowheads="1"/>
          </p:cNvSpPr>
          <p:nvPr>
            <p:ph idx="1"/>
          </p:nvPr>
        </p:nvSpPr>
        <p:spPr bwMode="auto">
          <a:xfrm>
            <a:off x="581192" y="1228397"/>
            <a:ext cx="11029616"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Data</a:t>
            </a: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1" i="0" u="none" strike="noStrike" cap="none" normalizeH="0" baseline="0" dirty="0">
                <a:ln>
                  <a:noFill/>
                </a:ln>
                <a:solidFill>
                  <a:schemeClr val="tx1"/>
                </a:solidFill>
                <a:effectLst/>
                <a:latin typeface="Arial" panose="020B0604020202020204" pitchFamily="34" charset="0"/>
              </a:rPr>
              <a:t>Collection</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Synthetic healthcare datasets were generated for educational purposes, including patient records, facility information, doctor data, staff details, ambulance records, transfer information, pharmacy data, municipality summaries, and resource utilization records.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Data</a:t>
            </a: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1" i="0" u="none" strike="noStrike" cap="none" normalizeH="0" baseline="0" dirty="0">
                <a:ln>
                  <a:noFill/>
                </a:ln>
                <a:solidFill>
                  <a:schemeClr val="tx1"/>
                </a:solidFill>
                <a:effectLst/>
                <a:latin typeface="Arial" panose="020B0604020202020204" pitchFamily="34" charset="0"/>
              </a:rPr>
              <a:t>Preprocessing</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The datasets were cleaned, validated, and organized using Python, Pandas, and NumPy. Relevant healthcare parameters were selected for analysis and prediction.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Database Integration</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Processed data was stored in a centralized SQLite database to enable efficient data retrieval and management.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System Development</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A web-based healthcare coordination platform was developed using </a:t>
            </a:r>
            <a:r>
              <a:rPr kumimoji="0" lang="en-US" altLang="en-US" sz="1400" b="0" i="0" u="none" strike="noStrike" cap="none" normalizeH="0" baseline="0" dirty="0" err="1">
                <a:ln>
                  <a:noFill/>
                </a:ln>
                <a:solidFill>
                  <a:schemeClr val="tx1"/>
                </a:solidFill>
                <a:effectLst/>
                <a:latin typeface="Arial" panose="020B0604020202020204" pitchFamily="34" charset="0"/>
              </a:rPr>
              <a:t>Streamlit</a:t>
            </a:r>
            <a:r>
              <a:rPr kumimoji="0" lang="en-US" altLang="en-US" sz="1400" b="0" i="0" u="none" strike="noStrike" cap="none" normalizeH="0" baseline="0" dirty="0">
                <a:ln>
                  <a:noFill/>
                </a:ln>
                <a:solidFill>
                  <a:schemeClr val="tx1"/>
                </a:solidFill>
                <a:effectLst/>
                <a:latin typeface="Arial" panose="020B0604020202020204" pitchFamily="34" charset="0"/>
              </a:rPr>
              <a:t>. Multiple modules were created for dashboard analytics, patient management, facility monitoring, transfer tracking, ambulance monitoring, and municipality reporting.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Artificial Intelligence Integration</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Google Gemini 2.5 Flash was integrated to provide healthcare assistance, intelligent recommendations, and automated municipality report generation.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Machine Learning Implementation</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A Random Forest Regressor model was trained using healthcare resource utilization data. Features such as patient admissions, discharges, available beds, doctors, staff, and ambulances were used to predict future bed occupancy levels.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Result Generation</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The platform generates real-time analytics, AI-powered insights, municipality reports, and predictive bed occupancy forecasts to support healthcare resource planning and decision-making. </a:t>
            </a:r>
          </a:p>
        </p:txBody>
      </p:sp>
    </p:spTree>
    <p:extLst>
      <p:ext uri="{BB962C8B-B14F-4D97-AF65-F5344CB8AC3E}">
        <p14:creationId xmlns:p14="http://schemas.microsoft.com/office/powerpoint/2010/main" val="3210358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2" y="662572"/>
            <a:ext cx="11029616" cy="530296"/>
          </a:xfrm>
        </p:spPr>
        <p:txBody>
          <a:bodyPr>
            <a:normAutofit fontScale="90000"/>
          </a:bodyPr>
          <a:lstStyle/>
          <a:p>
            <a:r>
              <a:rPr lang="en-US" sz="4400" b="1">
                <a:solidFill>
                  <a:schemeClr val="accent1"/>
                </a:solidFill>
                <a:latin typeface="Arial"/>
                <a:ea typeface="+mj-lt"/>
                <a:cs typeface="Arial"/>
              </a:rPr>
              <a:t>System  Approach</a:t>
            </a:r>
            <a:endParaRPr lang="en-US" sz="4400">
              <a:solidFill>
                <a:schemeClr val="accent1"/>
              </a:solidFill>
              <a:latin typeface="Calibri Light"/>
              <a:cs typeface="Calibri Light"/>
            </a:endParaRPr>
          </a:p>
        </p:txBody>
      </p:sp>
      <p:sp>
        <p:nvSpPr>
          <p:cNvPr id="3" name="Rectangle 1">
            <a:extLst>
              <a:ext uri="{FF2B5EF4-FFF2-40B4-BE49-F238E27FC236}">
                <a16:creationId xmlns:a16="http://schemas.microsoft.com/office/drawing/2014/main" id="{0614F04E-6F49-1ECF-2A47-F63BBF04A3AC}"/>
              </a:ext>
            </a:extLst>
          </p:cNvPr>
          <p:cNvSpPr>
            <a:spLocks noGrp="1" noChangeArrowheads="1"/>
          </p:cNvSpPr>
          <p:nvPr>
            <p:ph idx="1"/>
          </p:nvPr>
        </p:nvSpPr>
        <p:spPr bwMode="auto">
          <a:xfrm>
            <a:off x="581192" y="1192868"/>
            <a:ext cx="5972008" cy="54476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defTabSz="914400" eaLnBrk="0" fontAlgn="base" hangingPunct="0">
              <a:lnSpc>
                <a:spcPct val="100000"/>
              </a:lnSpc>
              <a:spcBef>
                <a:spcPct val="0"/>
              </a:spcBef>
              <a:spcAft>
                <a:spcPct val="0"/>
              </a:spcAft>
              <a:buClrTx/>
              <a:buSzTx/>
              <a:buNone/>
            </a:pPr>
            <a:r>
              <a:rPr lang="en-US" altLang="en-US" sz="1200" dirty="0">
                <a:solidFill>
                  <a:schemeClr val="tx1"/>
                </a:solidFill>
                <a:latin typeface="Arial" panose="020B0604020202020204" pitchFamily="34" charset="0"/>
              </a:rPr>
              <a:t>Frontend:</a:t>
            </a:r>
          </a:p>
          <a:p>
            <a:pPr marL="0" lvl="0" indent="0" defTabSz="914400" eaLnBrk="0" fontAlgn="base" hangingPunct="0">
              <a:lnSpc>
                <a:spcPct val="100000"/>
              </a:lnSpc>
              <a:spcBef>
                <a:spcPct val="0"/>
              </a:spcBef>
              <a:spcAft>
                <a:spcPct val="0"/>
              </a:spcAft>
              <a:buClrTx/>
              <a:buSzTx/>
              <a:buNone/>
            </a:pPr>
            <a:r>
              <a:rPr lang="en-US" altLang="en-US" sz="1200" dirty="0">
                <a:solidFill>
                  <a:schemeClr val="tx1"/>
                </a:solidFill>
                <a:latin typeface="Arial" panose="020B0604020202020204" pitchFamily="34" charset="0"/>
              </a:rPr>
              <a:t>• </a:t>
            </a:r>
            <a:r>
              <a:rPr lang="en-US" altLang="en-US" sz="1200" dirty="0" err="1">
                <a:solidFill>
                  <a:schemeClr val="tx1"/>
                </a:solidFill>
                <a:latin typeface="Arial" panose="020B0604020202020204" pitchFamily="34" charset="0"/>
              </a:rPr>
              <a:t>Streamlit</a:t>
            </a:r>
            <a:endParaRPr lang="en-US" altLang="en-US" sz="1200" dirty="0">
              <a:solidFill>
                <a:schemeClr val="tx1"/>
              </a:solidFill>
              <a:latin typeface="Arial" panose="020B0604020202020204" pitchFamily="34" charset="0"/>
            </a:endParaRPr>
          </a:p>
          <a:p>
            <a:pPr marL="0" lvl="0" indent="0" defTabSz="914400" eaLnBrk="0" fontAlgn="base" hangingPunct="0">
              <a:lnSpc>
                <a:spcPct val="100000"/>
              </a:lnSpc>
              <a:spcBef>
                <a:spcPct val="0"/>
              </a:spcBef>
              <a:spcAft>
                <a:spcPct val="0"/>
              </a:spcAft>
              <a:buClrTx/>
              <a:buSzTx/>
              <a:buNone/>
            </a:pPr>
            <a:endParaRPr lang="en-US" altLang="en-US" sz="1200" dirty="0">
              <a:solidFill>
                <a:schemeClr val="tx1"/>
              </a:solidFill>
              <a:latin typeface="Arial" panose="020B0604020202020204" pitchFamily="34" charset="0"/>
            </a:endParaRPr>
          </a:p>
          <a:p>
            <a:pPr marL="0" lvl="0" indent="0" defTabSz="914400" eaLnBrk="0" fontAlgn="base" hangingPunct="0">
              <a:lnSpc>
                <a:spcPct val="100000"/>
              </a:lnSpc>
              <a:spcBef>
                <a:spcPct val="0"/>
              </a:spcBef>
              <a:spcAft>
                <a:spcPct val="0"/>
              </a:spcAft>
              <a:buClrTx/>
              <a:buSzTx/>
              <a:buNone/>
            </a:pPr>
            <a:r>
              <a:rPr lang="en-US" altLang="en-US" sz="1200" dirty="0">
                <a:solidFill>
                  <a:schemeClr val="tx1"/>
                </a:solidFill>
                <a:latin typeface="Arial" panose="020B0604020202020204" pitchFamily="34" charset="0"/>
              </a:rPr>
              <a:t>Backend:</a:t>
            </a:r>
          </a:p>
          <a:p>
            <a:pPr marL="0" lvl="0" indent="0" defTabSz="914400" eaLnBrk="0" fontAlgn="base" hangingPunct="0">
              <a:lnSpc>
                <a:spcPct val="100000"/>
              </a:lnSpc>
              <a:spcBef>
                <a:spcPct val="0"/>
              </a:spcBef>
              <a:spcAft>
                <a:spcPct val="0"/>
              </a:spcAft>
              <a:buClrTx/>
              <a:buSzTx/>
              <a:buNone/>
            </a:pPr>
            <a:r>
              <a:rPr lang="en-US" altLang="en-US" sz="1200" dirty="0">
                <a:solidFill>
                  <a:schemeClr val="tx1"/>
                </a:solidFill>
                <a:latin typeface="Arial" panose="020B0604020202020204" pitchFamily="34" charset="0"/>
              </a:rPr>
              <a:t>• Python</a:t>
            </a:r>
          </a:p>
          <a:p>
            <a:pPr marL="0" lvl="0" indent="0" defTabSz="914400" eaLnBrk="0" fontAlgn="base" hangingPunct="0">
              <a:lnSpc>
                <a:spcPct val="100000"/>
              </a:lnSpc>
              <a:spcBef>
                <a:spcPct val="0"/>
              </a:spcBef>
              <a:spcAft>
                <a:spcPct val="0"/>
              </a:spcAft>
              <a:buClrTx/>
              <a:buSzTx/>
              <a:buNone/>
            </a:pPr>
            <a:endParaRPr lang="en-US" altLang="en-US" sz="1200" dirty="0">
              <a:solidFill>
                <a:schemeClr val="tx1"/>
              </a:solidFill>
              <a:latin typeface="Arial" panose="020B0604020202020204" pitchFamily="34" charset="0"/>
            </a:endParaRPr>
          </a:p>
          <a:p>
            <a:pPr marL="0" lvl="0" indent="0" defTabSz="914400" eaLnBrk="0" fontAlgn="base" hangingPunct="0">
              <a:lnSpc>
                <a:spcPct val="100000"/>
              </a:lnSpc>
              <a:spcBef>
                <a:spcPct val="0"/>
              </a:spcBef>
              <a:spcAft>
                <a:spcPct val="0"/>
              </a:spcAft>
              <a:buClrTx/>
              <a:buSzTx/>
              <a:buNone/>
            </a:pPr>
            <a:r>
              <a:rPr lang="en-US" altLang="en-US" sz="1200" dirty="0">
                <a:solidFill>
                  <a:schemeClr val="tx1"/>
                </a:solidFill>
                <a:latin typeface="Arial" panose="020B0604020202020204" pitchFamily="34" charset="0"/>
              </a:rPr>
              <a:t>Database:</a:t>
            </a:r>
          </a:p>
          <a:p>
            <a:pPr marL="0" lvl="0" indent="0" defTabSz="914400" eaLnBrk="0" fontAlgn="base" hangingPunct="0">
              <a:lnSpc>
                <a:spcPct val="100000"/>
              </a:lnSpc>
              <a:spcBef>
                <a:spcPct val="0"/>
              </a:spcBef>
              <a:spcAft>
                <a:spcPct val="0"/>
              </a:spcAft>
              <a:buClrTx/>
              <a:buSzTx/>
              <a:buNone/>
            </a:pPr>
            <a:r>
              <a:rPr lang="en-US" altLang="en-US" sz="1200" dirty="0">
                <a:solidFill>
                  <a:schemeClr val="tx1"/>
                </a:solidFill>
                <a:latin typeface="Arial" panose="020B0604020202020204" pitchFamily="34" charset="0"/>
              </a:rPr>
              <a:t>• SQLite</a:t>
            </a:r>
          </a:p>
          <a:p>
            <a:pPr marL="0" lvl="0" indent="0" defTabSz="914400" eaLnBrk="0" fontAlgn="base" hangingPunct="0">
              <a:lnSpc>
                <a:spcPct val="100000"/>
              </a:lnSpc>
              <a:spcBef>
                <a:spcPct val="0"/>
              </a:spcBef>
              <a:spcAft>
                <a:spcPct val="0"/>
              </a:spcAft>
              <a:buClrTx/>
              <a:buSzTx/>
              <a:buNone/>
            </a:pPr>
            <a:endParaRPr lang="en-US" altLang="en-US" sz="1200" dirty="0">
              <a:solidFill>
                <a:schemeClr val="tx1"/>
              </a:solidFill>
              <a:latin typeface="Arial" panose="020B0604020202020204" pitchFamily="34" charset="0"/>
            </a:endParaRPr>
          </a:p>
          <a:p>
            <a:pPr marL="0" lvl="0" indent="0" defTabSz="914400" eaLnBrk="0" fontAlgn="base" hangingPunct="0">
              <a:lnSpc>
                <a:spcPct val="100000"/>
              </a:lnSpc>
              <a:spcBef>
                <a:spcPct val="0"/>
              </a:spcBef>
              <a:spcAft>
                <a:spcPct val="0"/>
              </a:spcAft>
              <a:buClrTx/>
              <a:buSzTx/>
              <a:buNone/>
            </a:pPr>
            <a:r>
              <a:rPr lang="en-US" altLang="en-US" sz="1200" dirty="0">
                <a:solidFill>
                  <a:schemeClr val="tx1"/>
                </a:solidFill>
                <a:latin typeface="Arial" panose="020B0604020202020204" pitchFamily="34" charset="0"/>
              </a:rPr>
              <a:t>Artificial Intelligence:</a:t>
            </a:r>
          </a:p>
          <a:p>
            <a:pPr marL="0" lvl="0" indent="0" defTabSz="914400" eaLnBrk="0" fontAlgn="base" hangingPunct="0">
              <a:lnSpc>
                <a:spcPct val="100000"/>
              </a:lnSpc>
              <a:spcBef>
                <a:spcPct val="0"/>
              </a:spcBef>
              <a:spcAft>
                <a:spcPct val="0"/>
              </a:spcAft>
              <a:buClrTx/>
              <a:buSzTx/>
              <a:buNone/>
            </a:pPr>
            <a:r>
              <a:rPr lang="en-US" altLang="en-US" sz="1200" dirty="0">
                <a:solidFill>
                  <a:schemeClr val="tx1"/>
                </a:solidFill>
                <a:latin typeface="Arial" panose="020B0604020202020204" pitchFamily="34" charset="0"/>
              </a:rPr>
              <a:t>• Google Gemini 2.5 Flash</a:t>
            </a:r>
          </a:p>
          <a:p>
            <a:pPr marL="0" lvl="0" indent="0" defTabSz="914400" eaLnBrk="0" fontAlgn="base" hangingPunct="0">
              <a:lnSpc>
                <a:spcPct val="100000"/>
              </a:lnSpc>
              <a:spcBef>
                <a:spcPct val="0"/>
              </a:spcBef>
              <a:spcAft>
                <a:spcPct val="0"/>
              </a:spcAft>
              <a:buClrTx/>
              <a:buSzTx/>
              <a:buNone/>
            </a:pPr>
            <a:endParaRPr lang="en-US" altLang="en-US" sz="1200" dirty="0">
              <a:solidFill>
                <a:schemeClr val="tx1"/>
              </a:solidFill>
              <a:latin typeface="Arial" panose="020B0604020202020204" pitchFamily="34" charset="0"/>
            </a:endParaRPr>
          </a:p>
          <a:p>
            <a:pPr marL="0" lvl="0" indent="0" defTabSz="914400" eaLnBrk="0" fontAlgn="base" hangingPunct="0">
              <a:lnSpc>
                <a:spcPct val="100000"/>
              </a:lnSpc>
              <a:spcBef>
                <a:spcPct val="0"/>
              </a:spcBef>
              <a:spcAft>
                <a:spcPct val="0"/>
              </a:spcAft>
              <a:buClrTx/>
              <a:buSzTx/>
              <a:buNone/>
            </a:pPr>
            <a:r>
              <a:rPr lang="en-US" altLang="en-US" sz="1200" dirty="0">
                <a:solidFill>
                  <a:schemeClr val="tx1"/>
                </a:solidFill>
                <a:latin typeface="Arial" panose="020B0604020202020204" pitchFamily="34" charset="0"/>
              </a:rPr>
              <a:t>Machine Learning:</a:t>
            </a:r>
          </a:p>
          <a:p>
            <a:pPr marL="0" lvl="0" indent="0" defTabSz="914400" eaLnBrk="0" fontAlgn="base" hangingPunct="0">
              <a:lnSpc>
                <a:spcPct val="100000"/>
              </a:lnSpc>
              <a:spcBef>
                <a:spcPct val="0"/>
              </a:spcBef>
              <a:spcAft>
                <a:spcPct val="0"/>
              </a:spcAft>
              <a:buClrTx/>
              <a:buSzTx/>
              <a:buNone/>
            </a:pPr>
            <a:r>
              <a:rPr lang="en-US" altLang="en-US" sz="1200" dirty="0">
                <a:solidFill>
                  <a:schemeClr val="tx1"/>
                </a:solidFill>
                <a:latin typeface="Arial" panose="020B0604020202020204" pitchFamily="34" charset="0"/>
              </a:rPr>
              <a:t>• Random Forest Regressor</a:t>
            </a:r>
          </a:p>
          <a:p>
            <a:pPr marL="0" lvl="0" indent="0" defTabSz="914400" eaLnBrk="0" fontAlgn="base" hangingPunct="0">
              <a:lnSpc>
                <a:spcPct val="100000"/>
              </a:lnSpc>
              <a:spcBef>
                <a:spcPct val="0"/>
              </a:spcBef>
              <a:spcAft>
                <a:spcPct val="0"/>
              </a:spcAft>
              <a:buClrTx/>
              <a:buSzTx/>
              <a:buNone/>
            </a:pPr>
            <a:endParaRPr lang="en-US" altLang="en-US" sz="1200" dirty="0">
              <a:solidFill>
                <a:schemeClr val="tx1"/>
              </a:solidFill>
              <a:latin typeface="Arial" panose="020B0604020202020204" pitchFamily="34" charset="0"/>
            </a:endParaRPr>
          </a:p>
          <a:p>
            <a:pPr marL="0" lvl="0" indent="0" defTabSz="914400" eaLnBrk="0" fontAlgn="base" hangingPunct="0">
              <a:lnSpc>
                <a:spcPct val="100000"/>
              </a:lnSpc>
              <a:spcBef>
                <a:spcPct val="0"/>
              </a:spcBef>
              <a:spcAft>
                <a:spcPct val="0"/>
              </a:spcAft>
              <a:buClrTx/>
              <a:buSzTx/>
              <a:buNone/>
            </a:pPr>
            <a:r>
              <a:rPr lang="en-US" altLang="en-US" sz="1200" dirty="0">
                <a:solidFill>
                  <a:schemeClr val="tx1"/>
                </a:solidFill>
                <a:latin typeface="Arial" panose="020B0604020202020204" pitchFamily="34" charset="0"/>
              </a:rPr>
              <a:t>Data Processing:</a:t>
            </a:r>
          </a:p>
          <a:p>
            <a:pPr marL="0" lvl="0" indent="0" defTabSz="914400" eaLnBrk="0" fontAlgn="base" hangingPunct="0">
              <a:lnSpc>
                <a:spcPct val="100000"/>
              </a:lnSpc>
              <a:spcBef>
                <a:spcPct val="0"/>
              </a:spcBef>
              <a:spcAft>
                <a:spcPct val="0"/>
              </a:spcAft>
              <a:buClrTx/>
              <a:buSzTx/>
              <a:buNone/>
            </a:pPr>
            <a:r>
              <a:rPr lang="en-US" altLang="en-US" sz="1200" dirty="0">
                <a:solidFill>
                  <a:schemeClr val="tx1"/>
                </a:solidFill>
                <a:latin typeface="Arial" panose="020B0604020202020204" pitchFamily="34" charset="0"/>
              </a:rPr>
              <a:t>• Pandas, NumPy</a:t>
            </a:r>
          </a:p>
          <a:p>
            <a:pPr marL="0" lvl="0" indent="0" defTabSz="914400" eaLnBrk="0" fontAlgn="base" hangingPunct="0">
              <a:lnSpc>
                <a:spcPct val="100000"/>
              </a:lnSpc>
              <a:spcBef>
                <a:spcPct val="0"/>
              </a:spcBef>
              <a:spcAft>
                <a:spcPct val="0"/>
              </a:spcAft>
              <a:buClrTx/>
              <a:buSzTx/>
              <a:buNone/>
            </a:pPr>
            <a:endParaRPr lang="en-US" altLang="en-US" sz="1200" dirty="0">
              <a:solidFill>
                <a:schemeClr val="tx1"/>
              </a:solidFill>
              <a:latin typeface="Arial" panose="020B0604020202020204" pitchFamily="34" charset="0"/>
            </a:endParaRPr>
          </a:p>
          <a:p>
            <a:pPr marL="0" lvl="0" indent="0" defTabSz="914400" eaLnBrk="0" fontAlgn="base" hangingPunct="0">
              <a:lnSpc>
                <a:spcPct val="100000"/>
              </a:lnSpc>
              <a:spcBef>
                <a:spcPct val="0"/>
              </a:spcBef>
              <a:spcAft>
                <a:spcPct val="0"/>
              </a:spcAft>
              <a:buClrTx/>
              <a:buSzTx/>
              <a:buNone/>
            </a:pPr>
            <a:r>
              <a:rPr lang="en-US" altLang="en-US" sz="1200" dirty="0">
                <a:solidFill>
                  <a:schemeClr val="tx1"/>
                </a:solidFill>
                <a:latin typeface="Arial" panose="020B0604020202020204" pitchFamily="34" charset="0"/>
              </a:rPr>
              <a:t>Data Visualization:</a:t>
            </a:r>
          </a:p>
          <a:p>
            <a:pPr marL="0" lvl="0" indent="0" defTabSz="914400" eaLnBrk="0" fontAlgn="base" hangingPunct="0">
              <a:lnSpc>
                <a:spcPct val="100000"/>
              </a:lnSpc>
              <a:spcBef>
                <a:spcPct val="0"/>
              </a:spcBef>
              <a:spcAft>
                <a:spcPct val="0"/>
              </a:spcAft>
              <a:buClrTx/>
              <a:buSzTx/>
              <a:buNone/>
            </a:pPr>
            <a:r>
              <a:rPr lang="en-US" altLang="en-US" sz="1200" dirty="0">
                <a:solidFill>
                  <a:schemeClr val="tx1"/>
                </a:solidFill>
                <a:latin typeface="Arial" panose="020B0604020202020204" pitchFamily="34" charset="0"/>
              </a:rPr>
              <a:t>• Plotly</a:t>
            </a:r>
          </a:p>
          <a:p>
            <a:pPr marL="0" lvl="0" indent="0" defTabSz="914400" eaLnBrk="0" fontAlgn="base" hangingPunct="0">
              <a:lnSpc>
                <a:spcPct val="100000"/>
              </a:lnSpc>
              <a:spcBef>
                <a:spcPct val="0"/>
              </a:spcBef>
              <a:spcAft>
                <a:spcPct val="0"/>
              </a:spcAft>
              <a:buClrTx/>
              <a:buSzTx/>
              <a:buNone/>
            </a:pPr>
            <a:endParaRPr lang="en-US" altLang="en-US" sz="1200" dirty="0">
              <a:solidFill>
                <a:schemeClr val="tx1"/>
              </a:solidFill>
              <a:latin typeface="Arial" panose="020B0604020202020204" pitchFamily="34" charset="0"/>
            </a:endParaRPr>
          </a:p>
          <a:p>
            <a:pPr marL="0" lvl="0" indent="0" defTabSz="914400" eaLnBrk="0" fontAlgn="base" hangingPunct="0">
              <a:lnSpc>
                <a:spcPct val="100000"/>
              </a:lnSpc>
              <a:spcBef>
                <a:spcPct val="0"/>
              </a:spcBef>
              <a:spcAft>
                <a:spcPct val="0"/>
              </a:spcAft>
              <a:buClrTx/>
              <a:buSzTx/>
              <a:buNone/>
            </a:pPr>
            <a:r>
              <a:rPr lang="en-US" altLang="en-US" sz="1200" dirty="0">
                <a:solidFill>
                  <a:schemeClr val="tx1"/>
                </a:solidFill>
                <a:latin typeface="Arial" panose="020B0604020202020204" pitchFamily="34" charset="0"/>
              </a:rPr>
              <a:t>Model Storage:</a:t>
            </a:r>
          </a:p>
          <a:p>
            <a:pPr marL="0" lvl="0" indent="0" defTabSz="914400" eaLnBrk="0" fontAlgn="base" hangingPunct="0">
              <a:lnSpc>
                <a:spcPct val="100000"/>
              </a:lnSpc>
              <a:spcBef>
                <a:spcPct val="0"/>
              </a:spcBef>
              <a:spcAft>
                <a:spcPct val="0"/>
              </a:spcAft>
              <a:buClrTx/>
              <a:buSzTx/>
              <a:buNone/>
            </a:pPr>
            <a:r>
              <a:rPr lang="en-US" altLang="en-US" sz="1200" dirty="0">
                <a:solidFill>
                  <a:schemeClr val="tx1"/>
                </a:solidFill>
                <a:latin typeface="Arial" panose="020B0604020202020204" pitchFamily="34" charset="0"/>
              </a:rPr>
              <a:t>• </a:t>
            </a:r>
            <a:r>
              <a:rPr lang="en-US" altLang="en-US" sz="1200" dirty="0" err="1">
                <a:solidFill>
                  <a:schemeClr val="tx1"/>
                </a:solidFill>
                <a:latin typeface="Arial" panose="020B0604020202020204" pitchFamily="34" charset="0"/>
              </a:rPr>
              <a:t>Joblib</a:t>
            </a:r>
            <a:endParaRPr lang="en-US" altLang="en-US" sz="1200" dirty="0">
              <a:solidFill>
                <a:schemeClr val="tx1"/>
              </a:solidFill>
              <a:latin typeface="Arial" panose="020B0604020202020204" pitchFamily="34" charset="0"/>
            </a:endParaRPr>
          </a:p>
          <a:p>
            <a:pPr marL="0" lvl="0" indent="0" defTabSz="914400" eaLnBrk="0" fontAlgn="base" hangingPunct="0">
              <a:lnSpc>
                <a:spcPct val="100000"/>
              </a:lnSpc>
              <a:spcBef>
                <a:spcPct val="0"/>
              </a:spcBef>
              <a:spcAft>
                <a:spcPct val="0"/>
              </a:spcAft>
              <a:buClrTx/>
              <a:buSzTx/>
              <a:buNone/>
            </a:pPr>
            <a:endParaRPr lang="en-US" altLang="en-US" sz="1200" dirty="0">
              <a:solidFill>
                <a:schemeClr val="tx1"/>
              </a:solidFill>
              <a:latin typeface="Arial" panose="020B0604020202020204" pitchFamily="34" charset="0"/>
            </a:endParaRPr>
          </a:p>
          <a:p>
            <a:pPr marL="0" lvl="0" indent="0" defTabSz="914400" eaLnBrk="0" fontAlgn="base" hangingPunct="0">
              <a:lnSpc>
                <a:spcPct val="100000"/>
              </a:lnSpc>
              <a:spcBef>
                <a:spcPct val="0"/>
              </a:spcBef>
              <a:spcAft>
                <a:spcPct val="0"/>
              </a:spcAft>
              <a:buClrTx/>
              <a:buSzTx/>
              <a:buNone/>
            </a:pPr>
            <a:r>
              <a:rPr lang="en-US" altLang="en-US" sz="1200" dirty="0">
                <a:solidFill>
                  <a:schemeClr val="tx1"/>
                </a:solidFill>
                <a:latin typeface="Arial" panose="020B0604020202020204" pitchFamily="34" charset="0"/>
              </a:rPr>
              <a:t>Version Control:</a:t>
            </a:r>
          </a:p>
          <a:p>
            <a:pPr marL="0" lvl="0" indent="0" defTabSz="914400" eaLnBrk="0" fontAlgn="base" hangingPunct="0">
              <a:lnSpc>
                <a:spcPct val="100000"/>
              </a:lnSpc>
              <a:spcBef>
                <a:spcPct val="0"/>
              </a:spcBef>
              <a:spcAft>
                <a:spcPct val="0"/>
              </a:spcAft>
              <a:buClrTx/>
              <a:buSzTx/>
              <a:buNone/>
            </a:pPr>
            <a:r>
              <a:rPr lang="en-US" altLang="en-US" sz="1200" dirty="0">
                <a:solidFill>
                  <a:schemeClr val="tx1"/>
                </a:solidFill>
                <a:latin typeface="Arial" panose="020B0604020202020204" pitchFamily="34" charset="0"/>
              </a:rPr>
              <a:t>• GitHub</a:t>
            </a:r>
          </a:p>
          <a:p>
            <a:pPr marL="0" lvl="0" indent="0" defTabSz="914400" eaLnBrk="0" fontAlgn="base" hangingPunct="0">
              <a:lnSpc>
                <a:spcPct val="100000"/>
              </a:lnSpc>
              <a:spcBef>
                <a:spcPct val="0"/>
              </a:spcBef>
              <a:spcAft>
                <a:spcPct val="0"/>
              </a:spcAft>
              <a:buClrTx/>
              <a:buSzTx/>
              <a:buNone/>
            </a:pPr>
            <a:endParaRPr lang="en-US" altLang="en-US" sz="1200" dirty="0">
              <a:solidFill>
                <a:schemeClr val="tx1"/>
              </a:solidFill>
              <a:latin typeface="Arial" panose="020B0604020202020204" pitchFamily="34" charset="0"/>
            </a:endParaRPr>
          </a:p>
          <a:p>
            <a:pPr marL="0" lvl="0" indent="0" defTabSz="914400" eaLnBrk="0" fontAlgn="base" hangingPunct="0">
              <a:lnSpc>
                <a:spcPct val="100000"/>
              </a:lnSpc>
              <a:spcBef>
                <a:spcPct val="0"/>
              </a:spcBef>
              <a:spcAft>
                <a:spcPct val="0"/>
              </a:spcAft>
              <a:buClrTx/>
              <a:buSzTx/>
              <a:buNone/>
            </a:pPr>
            <a:r>
              <a:rPr lang="en-US" altLang="en-US" sz="1200" dirty="0">
                <a:solidFill>
                  <a:schemeClr val="tx1"/>
                </a:solidFill>
                <a:latin typeface="Arial" panose="020B0604020202020204" pitchFamily="34" charset="0"/>
              </a:rPr>
              <a:t>Deployment:</a:t>
            </a:r>
          </a:p>
          <a:p>
            <a:pPr marL="0" lvl="0" indent="0" defTabSz="914400" eaLnBrk="0" fontAlgn="base" hangingPunct="0">
              <a:lnSpc>
                <a:spcPct val="100000"/>
              </a:lnSpc>
              <a:spcBef>
                <a:spcPct val="0"/>
              </a:spcBef>
              <a:spcAft>
                <a:spcPct val="0"/>
              </a:spcAft>
              <a:buClrTx/>
              <a:buSzTx/>
              <a:buNone/>
            </a:pPr>
            <a:r>
              <a:rPr lang="en-US" altLang="en-US" sz="1200" dirty="0">
                <a:solidFill>
                  <a:schemeClr val="tx1"/>
                </a:solidFill>
                <a:latin typeface="Arial" panose="020B0604020202020204" pitchFamily="34" charset="0"/>
              </a:rPr>
              <a:t>• </a:t>
            </a:r>
            <a:r>
              <a:rPr lang="en-US" altLang="en-US" sz="1200" dirty="0" err="1">
                <a:solidFill>
                  <a:schemeClr val="tx1"/>
                </a:solidFill>
                <a:latin typeface="Arial" panose="020B0604020202020204" pitchFamily="34" charset="0"/>
              </a:rPr>
              <a:t>Streamlit</a:t>
            </a:r>
            <a:r>
              <a:rPr lang="en-US" altLang="en-US" sz="1200" dirty="0">
                <a:solidFill>
                  <a:schemeClr val="tx1"/>
                </a:solidFill>
                <a:latin typeface="Arial" panose="020B0604020202020204" pitchFamily="34" charset="0"/>
              </a:rPr>
              <a:t> Cloud</a:t>
            </a: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29C96E1A-1C2D-25D1-FCD9-8C06DA0D8807}"/>
              </a:ext>
            </a:extLst>
          </p:cNvPr>
          <p:cNvPicPr>
            <a:picLocks noChangeAspect="1"/>
          </p:cNvPicPr>
          <p:nvPr/>
        </p:nvPicPr>
        <p:blipFill>
          <a:blip r:embed="rId2"/>
          <a:stretch>
            <a:fillRect/>
          </a:stretch>
        </p:blipFill>
        <p:spPr>
          <a:xfrm>
            <a:off x="3393576" y="1111845"/>
            <a:ext cx="7812912" cy="5208608"/>
          </a:xfrm>
          <a:prstGeom prst="rect">
            <a:avLst/>
          </a:prstGeom>
        </p:spPr>
      </p:pic>
    </p:spTree>
    <p:extLst>
      <p:ext uri="{BB962C8B-B14F-4D97-AF65-F5344CB8AC3E}">
        <p14:creationId xmlns:p14="http://schemas.microsoft.com/office/powerpoint/2010/main" val="3202024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a:ea typeface="+mj-lt"/>
                <a:cs typeface="Arial"/>
              </a:rPr>
              <a:t>Algorithm &amp; Deployment</a:t>
            </a:r>
            <a:endParaRPr lang="en-US" dirty="0"/>
          </a:p>
        </p:txBody>
      </p:sp>
      <p:sp>
        <p:nvSpPr>
          <p:cNvPr id="10" name="TextBox 9">
            <a:extLst>
              <a:ext uri="{FF2B5EF4-FFF2-40B4-BE49-F238E27FC236}">
                <a16:creationId xmlns:a16="http://schemas.microsoft.com/office/drawing/2014/main" id="{7D7989B1-E8E0-2BB1-1AF7-CFAD7C7231CB}"/>
              </a:ext>
            </a:extLst>
          </p:cNvPr>
          <p:cNvSpPr txBox="1"/>
          <p:nvPr/>
        </p:nvSpPr>
        <p:spPr>
          <a:xfrm>
            <a:off x="581192" y="1232452"/>
            <a:ext cx="8274377" cy="5478423"/>
          </a:xfrm>
          <a:prstGeom prst="rect">
            <a:avLst/>
          </a:prstGeom>
          <a:noFill/>
        </p:spPr>
        <p:txBody>
          <a:bodyPr wrap="square">
            <a:spAutoFit/>
          </a:bodyPr>
          <a:lstStyle/>
          <a:p>
            <a:r>
              <a:rPr lang="en-IN" sz="1400" dirty="0"/>
              <a:t>Machine Learning Algorithm:</a:t>
            </a:r>
          </a:p>
          <a:p>
            <a:r>
              <a:rPr lang="en-IN" sz="1400" dirty="0"/>
              <a:t>Random Forest Regressor</a:t>
            </a:r>
          </a:p>
          <a:p>
            <a:endParaRPr lang="en-IN" sz="1400" dirty="0"/>
          </a:p>
          <a:p>
            <a:r>
              <a:rPr lang="en-IN" sz="1400" dirty="0"/>
              <a:t>Purpose:</a:t>
            </a:r>
          </a:p>
          <a:p>
            <a:r>
              <a:rPr lang="en-IN" sz="1400" dirty="0"/>
              <a:t>Predict future bed occupancy based on healthcare resource data.</a:t>
            </a:r>
          </a:p>
          <a:p>
            <a:endParaRPr lang="en-IN" sz="1400" dirty="0"/>
          </a:p>
          <a:p>
            <a:r>
              <a:rPr lang="en-IN" sz="1400" dirty="0"/>
              <a:t>Input Parameters:</a:t>
            </a:r>
          </a:p>
          <a:p>
            <a:r>
              <a:rPr lang="en-IN" sz="1400" dirty="0"/>
              <a:t>• Patients In</a:t>
            </a:r>
          </a:p>
          <a:p>
            <a:r>
              <a:rPr lang="en-IN" sz="1400" dirty="0"/>
              <a:t>• Patients Out</a:t>
            </a:r>
          </a:p>
          <a:p>
            <a:r>
              <a:rPr lang="en-IN" sz="1400" dirty="0"/>
              <a:t>• Beds Available</a:t>
            </a:r>
          </a:p>
          <a:p>
            <a:r>
              <a:rPr lang="en-IN" sz="1400" dirty="0"/>
              <a:t>• Doctors Available</a:t>
            </a:r>
          </a:p>
          <a:p>
            <a:r>
              <a:rPr lang="en-IN" sz="1400" dirty="0"/>
              <a:t>• Staff Available</a:t>
            </a:r>
          </a:p>
          <a:p>
            <a:r>
              <a:rPr lang="en-IN" sz="1400" dirty="0"/>
              <a:t>• Ambulances Available</a:t>
            </a:r>
          </a:p>
          <a:p>
            <a:endParaRPr lang="en-IN" sz="1400" dirty="0"/>
          </a:p>
          <a:p>
            <a:r>
              <a:rPr lang="en-IN" sz="1400" dirty="0"/>
              <a:t>Output:</a:t>
            </a:r>
          </a:p>
          <a:p>
            <a:r>
              <a:rPr lang="en-IN" sz="1400" dirty="0"/>
              <a:t>• Predicted Bed Occupancy</a:t>
            </a:r>
          </a:p>
          <a:p>
            <a:endParaRPr lang="en-IN" sz="1400" dirty="0"/>
          </a:p>
          <a:p>
            <a:r>
              <a:rPr lang="en-IN" sz="1400" dirty="0"/>
              <a:t>Deployment:</a:t>
            </a:r>
          </a:p>
          <a:p>
            <a:r>
              <a:rPr lang="en-IN" sz="1400" dirty="0"/>
              <a:t>• Application deployed using </a:t>
            </a:r>
            <a:r>
              <a:rPr lang="en-IN" sz="1400" dirty="0" err="1"/>
              <a:t>Streamlit</a:t>
            </a:r>
            <a:r>
              <a:rPr lang="en-IN" sz="1400" dirty="0"/>
              <a:t> Cloud</a:t>
            </a:r>
          </a:p>
          <a:p>
            <a:r>
              <a:rPr lang="en-IN" sz="1400" dirty="0"/>
              <a:t>• Source code hosted on GitHub</a:t>
            </a:r>
          </a:p>
          <a:p>
            <a:r>
              <a:rPr lang="en-IN" sz="1400" dirty="0"/>
              <a:t>• Gemini API integrated through </a:t>
            </a:r>
            <a:r>
              <a:rPr lang="en-IN" sz="1400" dirty="0" err="1"/>
              <a:t>Streamlit</a:t>
            </a:r>
            <a:r>
              <a:rPr lang="en-IN" sz="1400" dirty="0"/>
              <a:t> Secrets</a:t>
            </a:r>
          </a:p>
          <a:p>
            <a:r>
              <a:rPr lang="en-IN" sz="1400" dirty="0"/>
              <a:t>• ML model deployed using </a:t>
            </a:r>
            <a:r>
              <a:rPr lang="en-IN" sz="1400" dirty="0" err="1"/>
              <a:t>Joblib</a:t>
            </a:r>
            <a:r>
              <a:rPr lang="en-IN" sz="1400" dirty="0"/>
              <a:t> (.</a:t>
            </a:r>
            <a:r>
              <a:rPr lang="en-IN" sz="1400" dirty="0" err="1"/>
              <a:t>pkl</a:t>
            </a:r>
            <a:r>
              <a:rPr lang="en-IN" sz="1400" dirty="0"/>
              <a:t> file)</a:t>
            </a:r>
          </a:p>
          <a:p>
            <a:endParaRPr lang="en-IN" sz="1400" dirty="0"/>
          </a:p>
          <a:p>
            <a:r>
              <a:rPr lang="en-GB" sz="1400" dirty="0"/>
              <a:t>Random Forest was selected due to its robustness, ability to handle complex feature relationships, and resistance to overfitting.</a:t>
            </a:r>
            <a:endParaRPr lang="en-IN" sz="1400" dirty="0"/>
          </a:p>
        </p:txBody>
      </p:sp>
    </p:spTree>
    <p:extLst>
      <p:ext uri="{BB962C8B-B14F-4D97-AF65-F5344CB8AC3E}">
        <p14:creationId xmlns:p14="http://schemas.microsoft.com/office/powerpoint/2010/main" val="41545087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pic>
        <p:nvPicPr>
          <p:cNvPr id="6" name="Picture 5">
            <a:extLst>
              <a:ext uri="{FF2B5EF4-FFF2-40B4-BE49-F238E27FC236}">
                <a16:creationId xmlns:a16="http://schemas.microsoft.com/office/drawing/2014/main" id="{C634F75A-6209-D71A-28B4-188513C297B6}"/>
              </a:ext>
            </a:extLst>
          </p:cNvPr>
          <p:cNvPicPr>
            <a:picLocks noChangeAspect="1"/>
          </p:cNvPicPr>
          <p:nvPr/>
        </p:nvPicPr>
        <p:blipFill>
          <a:blip r:embed="rId2"/>
          <a:stretch>
            <a:fillRect/>
          </a:stretch>
        </p:blipFill>
        <p:spPr>
          <a:xfrm>
            <a:off x="156986" y="1385740"/>
            <a:ext cx="3880595" cy="1837004"/>
          </a:xfrm>
          <a:prstGeom prst="rect">
            <a:avLst/>
          </a:prstGeom>
        </p:spPr>
      </p:pic>
      <p:pic>
        <p:nvPicPr>
          <p:cNvPr id="8" name="Picture 7">
            <a:extLst>
              <a:ext uri="{FF2B5EF4-FFF2-40B4-BE49-F238E27FC236}">
                <a16:creationId xmlns:a16="http://schemas.microsoft.com/office/drawing/2014/main" id="{8A42238B-08C7-4FD6-B673-0E42B9041107}"/>
              </a:ext>
            </a:extLst>
          </p:cNvPr>
          <p:cNvPicPr>
            <a:picLocks noChangeAspect="1"/>
          </p:cNvPicPr>
          <p:nvPr/>
        </p:nvPicPr>
        <p:blipFill>
          <a:blip r:embed="rId3"/>
          <a:stretch>
            <a:fillRect/>
          </a:stretch>
        </p:blipFill>
        <p:spPr>
          <a:xfrm>
            <a:off x="4171139" y="1385740"/>
            <a:ext cx="3923579" cy="1837004"/>
          </a:xfrm>
          <a:prstGeom prst="rect">
            <a:avLst/>
          </a:prstGeom>
        </p:spPr>
      </p:pic>
      <p:pic>
        <p:nvPicPr>
          <p:cNvPr id="10" name="Picture 9">
            <a:extLst>
              <a:ext uri="{FF2B5EF4-FFF2-40B4-BE49-F238E27FC236}">
                <a16:creationId xmlns:a16="http://schemas.microsoft.com/office/drawing/2014/main" id="{7072D509-B170-DCEE-A8EC-33686F434D88}"/>
              </a:ext>
            </a:extLst>
          </p:cNvPr>
          <p:cNvPicPr>
            <a:picLocks noChangeAspect="1"/>
          </p:cNvPicPr>
          <p:nvPr/>
        </p:nvPicPr>
        <p:blipFill>
          <a:blip r:embed="rId4"/>
          <a:stretch>
            <a:fillRect/>
          </a:stretch>
        </p:blipFill>
        <p:spPr>
          <a:xfrm>
            <a:off x="8228276" y="1390527"/>
            <a:ext cx="3880595" cy="1832217"/>
          </a:xfrm>
          <a:prstGeom prst="rect">
            <a:avLst/>
          </a:prstGeom>
        </p:spPr>
      </p:pic>
      <p:pic>
        <p:nvPicPr>
          <p:cNvPr id="12" name="Picture 11">
            <a:extLst>
              <a:ext uri="{FF2B5EF4-FFF2-40B4-BE49-F238E27FC236}">
                <a16:creationId xmlns:a16="http://schemas.microsoft.com/office/drawing/2014/main" id="{AEEA21D2-DA59-1394-0E6B-F3641881308C}"/>
              </a:ext>
            </a:extLst>
          </p:cNvPr>
          <p:cNvPicPr>
            <a:picLocks noChangeAspect="1"/>
          </p:cNvPicPr>
          <p:nvPr/>
        </p:nvPicPr>
        <p:blipFill>
          <a:blip r:embed="rId5"/>
          <a:stretch>
            <a:fillRect/>
          </a:stretch>
        </p:blipFill>
        <p:spPr>
          <a:xfrm>
            <a:off x="156986" y="3634900"/>
            <a:ext cx="3901076" cy="1837004"/>
          </a:xfrm>
          <a:prstGeom prst="rect">
            <a:avLst/>
          </a:prstGeom>
        </p:spPr>
      </p:pic>
      <p:pic>
        <p:nvPicPr>
          <p:cNvPr id="14" name="Picture 13">
            <a:extLst>
              <a:ext uri="{FF2B5EF4-FFF2-40B4-BE49-F238E27FC236}">
                <a16:creationId xmlns:a16="http://schemas.microsoft.com/office/drawing/2014/main" id="{D26EB5E2-AF8C-FD79-D2B6-DBA5966728B5}"/>
              </a:ext>
            </a:extLst>
          </p:cNvPr>
          <p:cNvPicPr>
            <a:picLocks noChangeAspect="1"/>
          </p:cNvPicPr>
          <p:nvPr/>
        </p:nvPicPr>
        <p:blipFill>
          <a:blip r:embed="rId6"/>
          <a:stretch>
            <a:fillRect/>
          </a:stretch>
        </p:blipFill>
        <p:spPr>
          <a:xfrm>
            <a:off x="4171139" y="3634900"/>
            <a:ext cx="3901076" cy="1837360"/>
          </a:xfrm>
          <a:prstGeom prst="rect">
            <a:avLst/>
          </a:prstGeom>
        </p:spPr>
      </p:pic>
      <p:pic>
        <p:nvPicPr>
          <p:cNvPr id="18" name="Picture 17">
            <a:extLst>
              <a:ext uri="{FF2B5EF4-FFF2-40B4-BE49-F238E27FC236}">
                <a16:creationId xmlns:a16="http://schemas.microsoft.com/office/drawing/2014/main" id="{29FD50C3-C664-FBFC-EEE7-00ADC771925F}"/>
              </a:ext>
            </a:extLst>
          </p:cNvPr>
          <p:cNvPicPr>
            <a:picLocks noChangeAspect="1"/>
          </p:cNvPicPr>
          <p:nvPr/>
        </p:nvPicPr>
        <p:blipFill>
          <a:blip r:embed="rId7"/>
          <a:stretch>
            <a:fillRect/>
          </a:stretch>
        </p:blipFill>
        <p:spPr>
          <a:xfrm>
            <a:off x="8617249" y="3902044"/>
            <a:ext cx="3102648" cy="1302715"/>
          </a:xfrm>
          <a:prstGeom prst="rect">
            <a:avLst/>
          </a:prstGeom>
        </p:spPr>
      </p:pic>
      <p:sp>
        <p:nvSpPr>
          <p:cNvPr id="19" name="TextBox 18">
            <a:extLst>
              <a:ext uri="{FF2B5EF4-FFF2-40B4-BE49-F238E27FC236}">
                <a16:creationId xmlns:a16="http://schemas.microsoft.com/office/drawing/2014/main" id="{B6147111-B74A-00B0-4926-F88C2A393409}"/>
              </a:ext>
            </a:extLst>
          </p:cNvPr>
          <p:cNvSpPr txBox="1"/>
          <p:nvPr/>
        </p:nvSpPr>
        <p:spPr>
          <a:xfrm>
            <a:off x="8727779" y="3511502"/>
            <a:ext cx="2881587" cy="369332"/>
          </a:xfrm>
          <a:prstGeom prst="rect">
            <a:avLst/>
          </a:prstGeom>
          <a:noFill/>
        </p:spPr>
        <p:txBody>
          <a:bodyPr wrap="square" rtlCol="0">
            <a:spAutoFit/>
          </a:bodyPr>
          <a:lstStyle/>
          <a:p>
            <a:r>
              <a:rPr lang="en-IN" dirty="0"/>
              <a:t>Model Evaluation Results</a:t>
            </a:r>
          </a:p>
        </p:txBody>
      </p:sp>
    </p:spTree>
    <p:extLst>
      <p:ext uri="{BB962C8B-B14F-4D97-AF65-F5344CB8AC3E}">
        <p14:creationId xmlns:p14="http://schemas.microsoft.com/office/powerpoint/2010/main" val="14832933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Conclusion</a:t>
            </a:r>
            <a:endParaRPr lang="en-US"/>
          </a:p>
        </p:txBody>
      </p:sp>
      <p:sp>
        <p:nvSpPr>
          <p:cNvPr id="3" name="Rectangle 1">
            <a:extLst>
              <a:ext uri="{FF2B5EF4-FFF2-40B4-BE49-F238E27FC236}">
                <a16:creationId xmlns:a16="http://schemas.microsoft.com/office/drawing/2014/main" id="{781E8793-95DD-ACCB-2783-F97C7AFD6B7F}"/>
              </a:ext>
            </a:extLst>
          </p:cNvPr>
          <p:cNvSpPr>
            <a:spLocks noGrp="1" noChangeArrowheads="1"/>
          </p:cNvSpPr>
          <p:nvPr>
            <p:ph idx="1"/>
          </p:nvPr>
        </p:nvSpPr>
        <p:spPr bwMode="auto">
          <a:xfrm>
            <a:off x="581192" y="1232452"/>
            <a:ext cx="11029616" cy="4278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err="1">
                <a:ln>
                  <a:noFill/>
                </a:ln>
                <a:solidFill>
                  <a:schemeClr val="tx1"/>
                </a:solidFill>
                <a:effectLst/>
                <a:latin typeface="Arial" panose="020B0604020202020204" pitchFamily="34" charset="0"/>
              </a:rPr>
              <a:t>CareBridge</a:t>
            </a:r>
            <a:r>
              <a:rPr kumimoji="0" lang="en-US" altLang="en-US" sz="1600" b="0" i="0" u="none" strike="noStrike" cap="none" normalizeH="0" baseline="0" dirty="0">
                <a:ln>
                  <a:noFill/>
                </a:ln>
                <a:solidFill>
                  <a:schemeClr val="tx1"/>
                </a:solidFill>
                <a:effectLst/>
                <a:latin typeface="Arial" panose="020B0604020202020204" pitchFamily="34" charset="0"/>
              </a:rPr>
              <a:t> successfully integrates Artificial Intelligence, Machine Learning, and healthcare analytics into a unified healthcare coordination platform.</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 The system provides real-time resource monitoring, AI-powered assistance, automated municipality reporting, and predictive bed occupancy forecasting to support healthcare decision-making.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 The Random Forest Regressor achieved strong predictive performance with an R² Score of 83.6% and an MAE of 13.24, demonstrating its effectiveness in healthcare resource planning.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 By enabling data-driven decision-making, </a:t>
            </a:r>
            <a:r>
              <a:rPr kumimoji="0" lang="en-US" altLang="en-US" sz="1600" b="0" i="0" u="none" strike="noStrike" cap="none" normalizeH="0" baseline="0" dirty="0" err="1">
                <a:ln>
                  <a:noFill/>
                </a:ln>
                <a:solidFill>
                  <a:schemeClr val="tx1"/>
                </a:solidFill>
                <a:effectLst/>
                <a:latin typeface="Arial" panose="020B0604020202020204" pitchFamily="34" charset="0"/>
              </a:rPr>
              <a:t>CareBridge</a:t>
            </a:r>
            <a:r>
              <a:rPr kumimoji="0" lang="en-US" altLang="en-US" sz="1600" b="0" i="0" u="none" strike="noStrike" cap="none" normalizeH="0" baseline="0" dirty="0">
                <a:ln>
                  <a:noFill/>
                </a:ln>
                <a:solidFill>
                  <a:schemeClr val="tx1"/>
                </a:solidFill>
                <a:effectLst/>
                <a:latin typeface="Arial" panose="020B0604020202020204" pitchFamily="34" charset="0"/>
              </a:rPr>
              <a:t> can help healthcare administrators optimize resource utilization, improve operational efficiency, and enhance healthcare management processes.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 The project demonstrates the potential social impact of AI-driven healthcare solutions in supporting smarter, more efficient, and accessible healthcare systems.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 Overall, </a:t>
            </a:r>
            <a:r>
              <a:rPr kumimoji="0" lang="en-US" altLang="en-US" sz="1600" b="0" i="0" u="none" strike="noStrike" cap="none" normalizeH="0" baseline="0" dirty="0" err="1">
                <a:ln>
                  <a:noFill/>
                </a:ln>
                <a:solidFill>
                  <a:schemeClr val="tx1"/>
                </a:solidFill>
                <a:effectLst/>
                <a:latin typeface="Arial" panose="020B0604020202020204" pitchFamily="34" charset="0"/>
              </a:rPr>
              <a:t>CareBridge</a:t>
            </a:r>
            <a:r>
              <a:rPr kumimoji="0" lang="en-US" altLang="en-US" sz="1600" b="0" i="0" u="none" strike="noStrike" cap="none" normalizeH="0" baseline="0" dirty="0">
                <a:ln>
                  <a:noFill/>
                </a:ln>
                <a:solidFill>
                  <a:schemeClr val="tx1"/>
                </a:solidFill>
                <a:effectLst/>
                <a:latin typeface="Arial" panose="020B0604020202020204" pitchFamily="34" charset="0"/>
              </a:rPr>
              <a:t> establishes a scalable foundation for future intelligent healthcare management and digital health innovation.</a:t>
            </a:r>
          </a:p>
        </p:txBody>
      </p:sp>
    </p:spTree>
    <p:extLst>
      <p:ext uri="{BB962C8B-B14F-4D97-AF65-F5344CB8AC3E}">
        <p14:creationId xmlns:p14="http://schemas.microsoft.com/office/powerpoint/2010/main" val="31833151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F968F13-9AC4-7120-7ACD-9F752C767D5D}"/>
              </a:ext>
            </a:extLst>
          </p:cNvPr>
          <p:cNvSpPr txBox="1">
            <a:spLocks/>
          </p:cNvSpPr>
          <p:nvPr/>
        </p:nvSpPr>
        <p:spPr>
          <a:xfrm>
            <a:off x="535670" y="844659"/>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chemeClr val="accent1"/>
                </a:solidFill>
                <a:latin typeface="Arial"/>
                <a:cs typeface="Arial"/>
              </a:rPr>
              <a:t>Future scope</a:t>
            </a:r>
          </a:p>
        </p:txBody>
      </p:sp>
      <p:sp>
        <p:nvSpPr>
          <p:cNvPr id="4" name="Rectangle 2">
            <a:extLst>
              <a:ext uri="{FF2B5EF4-FFF2-40B4-BE49-F238E27FC236}">
                <a16:creationId xmlns:a16="http://schemas.microsoft.com/office/drawing/2014/main" id="{546287E8-4C5B-4DBF-ADE6-DB3BA778AF1F}"/>
              </a:ext>
            </a:extLst>
          </p:cNvPr>
          <p:cNvSpPr>
            <a:spLocks noChangeArrowheads="1"/>
          </p:cNvSpPr>
          <p:nvPr/>
        </p:nvSpPr>
        <p:spPr bwMode="auto">
          <a:xfrm>
            <a:off x="535670" y="1374955"/>
            <a:ext cx="10549748"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Integration with real hospital information systems and healthcare databases.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Development of a mobile application for healthcare administrators and medical staff.</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Real-time ambulance tracking and emergency response coordination.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Integration with IoT devices and wearable health monitoring systems.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Advanced AI-powered healthcare recommendations and decision support.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Multi-language support for wider accessibility across different regions.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Cloud-scale deployment for supporting multiple hospitals and municipalities.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Enhanced predictive analytics for patient flow, resource demand, and healthcare capacity planning.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Integration with government healthcare platforms for improved public health management.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Expansion into a comprehensive smart healthcare ecosystem powered by AI and Machine Learning.</a:t>
            </a:r>
          </a:p>
        </p:txBody>
      </p:sp>
    </p:spTree>
    <p:extLst>
      <p:ext uri="{BB962C8B-B14F-4D97-AF65-F5344CB8AC3E}">
        <p14:creationId xmlns:p14="http://schemas.microsoft.com/office/powerpoint/2010/main" val="6148826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References</a:t>
            </a:r>
            <a:endParaRPr lang="en-US"/>
          </a:p>
        </p:txBody>
      </p:sp>
      <p:sp>
        <p:nvSpPr>
          <p:cNvPr id="11" name="Rectangle 4">
            <a:extLst>
              <a:ext uri="{FF2B5EF4-FFF2-40B4-BE49-F238E27FC236}">
                <a16:creationId xmlns:a16="http://schemas.microsoft.com/office/drawing/2014/main" id="{5DA87A84-E837-0C50-85DA-ED667F33CD78}"/>
              </a:ext>
            </a:extLst>
          </p:cNvPr>
          <p:cNvSpPr>
            <a:spLocks noChangeArrowheads="1"/>
          </p:cNvSpPr>
          <p:nvPr/>
        </p:nvSpPr>
        <p:spPr bwMode="auto">
          <a:xfrm>
            <a:off x="474561" y="967304"/>
            <a:ext cx="9071779"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Google Generative AI (Gemini) Documentation</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hlinkClick r:id="rId2"/>
              </a:rPr>
              <a:t>https://ai.google.dev/</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800" b="0" i="0" u="none" strike="noStrike" cap="none" normalizeH="0" baseline="0" dirty="0" err="1">
                <a:ln>
                  <a:noFill/>
                </a:ln>
                <a:solidFill>
                  <a:schemeClr val="tx1"/>
                </a:solidFill>
                <a:effectLst/>
                <a:latin typeface="Arial" panose="020B0604020202020204" pitchFamily="34" charset="0"/>
              </a:rPr>
              <a:t>Streamlit</a:t>
            </a:r>
            <a:r>
              <a:rPr kumimoji="0" lang="en-US" altLang="en-US" sz="1800" b="0" i="0" u="none" strike="noStrike" cap="none" normalizeH="0" baseline="0" dirty="0">
                <a:ln>
                  <a:noFill/>
                </a:ln>
                <a:solidFill>
                  <a:schemeClr val="tx1"/>
                </a:solidFill>
                <a:effectLst/>
                <a:latin typeface="Arial" panose="020B0604020202020204" pitchFamily="34" charset="0"/>
              </a:rPr>
              <a:t> Documentation</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hlinkClick r:id="rId3"/>
              </a:rPr>
              <a:t>https://docs.streamlit.io/</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800" b="0" i="0" u="none" strike="noStrike" cap="none" normalizeH="0" baseline="0" dirty="0">
                <a:ln>
                  <a:noFill/>
                </a:ln>
                <a:solidFill>
                  <a:schemeClr val="tx1"/>
                </a:solidFill>
                <a:effectLst/>
                <a:latin typeface="Arial" panose="020B0604020202020204" pitchFamily="34" charset="0"/>
              </a:rPr>
              <a:t>Scikit-Learn Documentation</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hlinkClick r:id="rId4"/>
              </a:rPr>
              <a:t>https://scikit-learn.org/stable/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800" b="0" i="0" u="none" strike="noStrike" cap="none" normalizeH="0" baseline="0" dirty="0">
                <a:ln>
                  <a:noFill/>
                </a:ln>
                <a:solidFill>
                  <a:schemeClr val="tx1"/>
                </a:solidFill>
                <a:effectLst/>
                <a:latin typeface="Arial" panose="020B0604020202020204" pitchFamily="34" charset="0"/>
              </a:rPr>
              <a:t>Pandas Documentation</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hlinkClick r:id="rId5"/>
              </a:rPr>
              <a:t>https://pandas.pydata.org/docs/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800" b="0" i="0" u="none" strike="noStrike" cap="none" normalizeH="0" baseline="0" dirty="0">
                <a:ln>
                  <a:noFill/>
                </a:ln>
                <a:solidFill>
                  <a:schemeClr val="tx1"/>
                </a:solidFill>
                <a:effectLst/>
                <a:latin typeface="Arial" panose="020B0604020202020204" pitchFamily="34" charset="0"/>
              </a:rPr>
              <a:t>NumPy Documentation</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hlinkClick r:id="rId6"/>
              </a:rPr>
              <a:t>https://numpy.org/doc/</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800" b="0" i="0" u="none" strike="noStrike" cap="none" normalizeH="0" baseline="0" dirty="0">
                <a:ln>
                  <a:noFill/>
                </a:ln>
                <a:solidFill>
                  <a:schemeClr val="tx1"/>
                </a:solidFill>
                <a:effectLst/>
                <a:latin typeface="Arial" panose="020B0604020202020204" pitchFamily="34" charset="0"/>
              </a:rPr>
              <a:t>Plotly Documentation</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hlinkClick r:id="rId7"/>
              </a:rPr>
              <a:t>https://plotly.com/python/</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en-US" altLang="en-US" sz="1800" b="0" i="0" u="none" strike="noStrike" cap="none" normalizeH="0" baseline="0" dirty="0">
                <a:ln>
                  <a:noFill/>
                </a:ln>
                <a:solidFill>
                  <a:schemeClr val="tx1"/>
                </a:solidFill>
                <a:effectLst/>
                <a:latin typeface="Arial" panose="020B0604020202020204" pitchFamily="34" charset="0"/>
              </a:rPr>
              <a:t>SQLite Documentation</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hlinkClick r:id="rId8"/>
              </a:rPr>
              <a:t>https://www.sqlite.org/docs.html</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8"/>
              <a:tabLst/>
            </a:pPr>
            <a:r>
              <a:rPr kumimoji="0" lang="en-US" altLang="en-US" sz="1800" b="0" i="0" u="none" strike="noStrike" cap="none" normalizeH="0" baseline="0" dirty="0" err="1">
                <a:ln>
                  <a:noFill/>
                </a:ln>
                <a:solidFill>
                  <a:schemeClr val="tx1"/>
                </a:solidFill>
                <a:effectLst/>
                <a:latin typeface="Arial" panose="020B0604020202020204" pitchFamily="34" charset="0"/>
              </a:rPr>
              <a:t>CareBridge</a:t>
            </a:r>
            <a:r>
              <a:rPr kumimoji="0" lang="en-US" altLang="en-US" sz="1800" b="0" i="0" u="none" strike="noStrike" cap="none" normalizeH="0" baseline="0" dirty="0">
                <a:ln>
                  <a:noFill/>
                </a:ln>
                <a:solidFill>
                  <a:schemeClr val="tx1"/>
                </a:solidFill>
                <a:effectLst/>
                <a:latin typeface="Arial" panose="020B0604020202020204" pitchFamily="34" charset="0"/>
              </a:rPr>
              <a:t> Synthetic Healthcare Dataset (Kaggle)</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hlinkClick r:id="rId9"/>
              </a:rPr>
              <a:t>https://www.kaggle.com/datasets/siddharth564/carebridge-synthetic-healthcare-dataset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9"/>
              <a:tabLst/>
            </a:pPr>
            <a:r>
              <a:rPr kumimoji="0" lang="en-US" altLang="en-US" sz="1800" b="0" i="0" u="none" strike="noStrike" cap="none" normalizeH="0" baseline="0" dirty="0" err="1">
                <a:ln>
                  <a:noFill/>
                </a:ln>
                <a:solidFill>
                  <a:schemeClr val="tx1"/>
                </a:solidFill>
                <a:effectLst/>
                <a:latin typeface="Arial" panose="020B0604020202020204" pitchFamily="34" charset="0"/>
              </a:rPr>
              <a:t>CareBridge</a:t>
            </a:r>
            <a:r>
              <a:rPr kumimoji="0" lang="en-US" altLang="en-US" sz="1800" b="0" i="0" u="none" strike="noStrike" cap="none" normalizeH="0" baseline="0" dirty="0">
                <a:ln>
                  <a:noFill/>
                </a:ln>
                <a:solidFill>
                  <a:schemeClr val="tx1"/>
                </a:solidFill>
                <a:effectLst/>
                <a:latin typeface="Arial" panose="020B0604020202020204" pitchFamily="34" charset="0"/>
              </a:rPr>
              <a:t> GitHub Repository</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hlinkClick r:id="rId10"/>
              </a:rPr>
              <a:t>https://github.com/siddharthmahajan2477-dot/CareBridge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289502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C18F4-90FF-869B-D16A-31F40314E23F}"/>
              </a:ext>
            </a:extLst>
          </p:cNvPr>
          <p:cNvSpPr>
            <a:spLocks noGrp="1"/>
          </p:cNvSpPr>
          <p:nvPr>
            <p:ph type="title"/>
          </p:nvPr>
        </p:nvSpPr>
        <p:spPr/>
        <p:txBody>
          <a:bodyPr/>
          <a:lstStyle/>
          <a:p>
            <a:r>
              <a:rPr lang="en-US" dirty="0" err="1"/>
              <a:t>Github</a:t>
            </a:r>
            <a:r>
              <a:rPr lang="en-US" dirty="0"/>
              <a:t> link</a:t>
            </a:r>
            <a:endParaRPr lang="en-IN" dirty="0"/>
          </a:p>
        </p:txBody>
      </p:sp>
      <p:sp>
        <p:nvSpPr>
          <p:cNvPr id="3" name="Content Placeholder 2">
            <a:extLst>
              <a:ext uri="{FF2B5EF4-FFF2-40B4-BE49-F238E27FC236}">
                <a16:creationId xmlns:a16="http://schemas.microsoft.com/office/drawing/2014/main" id="{D728B4D2-2154-F20B-F64F-A6097D21B39F}"/>
              </a:ext>
            </a:extLst>
          </p:cNvPr>
          <p:cNvSpPr>
            <a:spLocks noGrp="1"/>
          </p:cNvSpPr>
          <p:nvPr>
            <p:ph idx="1"/>
          </p:nvPr>
        </p:nvSpPr>
        <p:spPr/>
        <p:txBody>
          <a:bodyPr/>
          <a:lstStyle/>
          <a:p>
            <a:r>
              <a:rPr lang="en-IN" dirty="0" err="1"/>
              <a:t>Github</a:t>
            </a:r>
            <a:r>
              <a:rPr lang="en-IN" dirty="0"/>
              <a:t> Link :  https://github.com/siddharthmahajan2477-dot/CareBridge.git</a:t>
            </a:r>
          </a:p>
          <a:p>
            <a:r>
              <a:rPr lang="en-IN" dirty="0"/>
              <a:t>Deployment Link:  https://carebridge.streamlit.app/</a:t>
            </a:r>
          </a:p>
        </p:txBody>
      </p:sp>
    </p:spTree>
    <p:extLst>
      <p:ext uri="{BB962C8B-B14F-4D97-AF65-F5344CB8AC3E}">
        <p14:creationId xmlns:p14="http://schemas.microsoft.com/office/powerpoint/2010/main" val="19959093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E4CA82-64EC-4D4E-A5E5-3EBB66E7B24C}"/>
              </a:ext>
            </a:extLst>
          </p:cNvPr>
          <p:cNvSpPr>
            <a:spLocks noGrp="1"/>
          </p:cNvSpPr>
          <p:nvPr>
            <p:ph type="title"/>
          </p:nvPr>
        </p:nvSpPr>
        <p:spPr>
          <a:xfrm>
            <a:off x="1463041" y="2766218"/>
            <a:ext cx="9298744" cy="1325563"/>
          </a:xfrm>
        </p:spPr>
        <p:txBody>
          <a:bodyPr/>
          <a:lstStyle/>
          <a:p>
            <a:pPr algn="ctr"/>
            <a:r>
              <a:rPr lang="en-US" b="1">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2.xml><?xml version="1.0" encoding="utf-8"?>
<ds:datastoreItem xmlns:ds="http://schemas.openxmlformats.org/officeDocument/2006/customXml" ds:itemID="{8D289AE2-D2AE-49D1-AFAC-3A79F6794255}">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6E816721-11E4-4989-8472-AB5A7EC20404}">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Future forward</Template>
  <TotalTime>1717</TotalTime>
  <Words>925</Words>
  <Application>Microsoft Office PowerPoint</Application>
  <PresentationFormat>Widescreen</PresentationFormat>
  <Paragraphs>121</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Calibri</vt:lpstr>
      <vt:lpstr>Calibri Light</vt:lpstr>
      <vt:lpstr>Franklin Gothic Book</vt:lpstr>
      <vt:lpstr>Franklin Gothic Demi</vt:lpstr>
      <vt:lpstr>Wingdings 2</vt:lpstr>
      <vt:lpstr>DividendVTI</vt:lpstr>
      <vt:lpstr>Project title</vt:lpstr>
      <vt:lpstr>OUTLINE</vt:lpstr>
      <vt:lpstr>Problem Statement</vt:lpstr>
      <vt:lpstr>Proposed Solution</vt:lpstr>
      <vt:lpstr>System  Approach</vt:lpstr>
      <vt:lpstr>Algorithm &amp; Deployment</vt:lpstr>
      <vt:lpstr>Result</vt:lpstr>
      <vt:lpstr>Conclusion</vt:lpstr>
      <vt:lpstr>PowerPoint Presentation</vt:lpstr>
      <vt:lpstr>References</vt:lpstr>
      <vt:lpstr>Github link</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Siddharth Mahajan</cp:lastModifiedBy>
  <cp:revision>39</cp:revision>
  <dcterms:created xsi:type="dcterms:W3CDTF">2021-05-26T16:50:10Z</dcterms:created>
  <dcterms:modified xsi:type="dcterms:W3CDTF">2026-06-11T16:50:27Z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